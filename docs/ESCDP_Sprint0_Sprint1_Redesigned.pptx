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206240"/>
            <a:ext cx="5486400" cy="54864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5120640"/>
            <a:ext cx="5486400" cy="5486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331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UC18  ·  ABC GLOBAL MANUFACTURING LTD.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9748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Supply Chain Data Platform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 + Sprint 1 Review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4526280"/>
            <a:ext cx="118872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709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fragmented systems to one governed data platform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ESCDP  |  Sprint 0 &amp; Sprint 1   ·   1/10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and Project Goal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943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The challenge
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733"/>
                </a:solidFill>
              </a:rPr>
              <a:t>Supply-chain information is scattered across SCM, WMS, TMS, Inventory, ERP, Procurement, Vendor, Logistics and Order Fulfillment systems — each with its own format.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733"/>
                </a:solidFill>
              </a:rPr>
              <a:t>Independent systems and heterogeneous formats make it difficult to obtain one consistent operational view.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The approach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ESCDP brings all source data into a single governed PostgreSQL platform for analysis and reporting.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903720" y="1600200"/>
            <a:ext cx="4754880" cy="4206240"/>
          </a:xfrm>
          <a:prstGeom prst="roundRect">
            <a:avLst>
              <a:gd name="adj" fmla="val 2174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269480" y="1874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OUTCOMES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269480" y="2331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9+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641080" y="2331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systems unified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269480" y="3108960"/>
            <a:ext cx="4023360" cy="0"/>
          </a:xfrm>
          <a:prstGeom prst="line">
            <a:avLst/>
          </a:prstGeom>
          <a:noFill/>
          <a:ln w="12700">
            <a:solidFill>
              <a:srgbClr val="1331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69480" y="317296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641080" y="317296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PostgreSQL platform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269480" y="3950208"/>
            <a:ext cx="4023360" cy="0"/>
          </a:xfrm>
          <a:prstGeom prst="line">
            <a:avLst/>
          </a:prstGeom>
          <a:noFill/>
          <a:ln w="12700">
            <a:solidFill>
              <a:srgbClr val="1331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69480" y="401421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641080" y="401421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via shared keys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269480" y="4791456"/>
            <a:ext cx="4023360" cy="0"/>
          </a:xfrm>
          <a:prstGeom prst="line">
            <a:avLst/>
          </a:prstGeom>
          <a:noFill/>
          <a:ln w="12700">
            <a:solidFill>
              <a:srgbClr val="1331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69480" y="485546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641080" y="485546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Decision-ready dashboards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ESCDP  |  Sprint 0 &amp; Sprint 1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091672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Initiation &amp;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4767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606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95351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prepared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2544" y="169164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E8F1F5"/>
          </a:solidFill>
          <a:ln/>
        </p:spPr>
      </p:sp>
      <p:sp>
        <p:nvSpPr>
          <p:cNvPr id="10" name="Shape 8"/>
          <p:cNvSpPr/>
          <p:nvPr/>
        </p:nvSpPr>
        <p:spPr>
          <a:xfrm>
            <a:off x="4608576" y="194767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08576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4608576" y="2606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Planning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08576" y="295351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Charter prepared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56448" y="169164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E8F1F5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194767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606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95351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solution architecture defined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E8F1F5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" y="423367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" y="4233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4892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523951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repository and project structure established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52544" y="397764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E8F1F5"/>
          </a:solidFill>
          <a:ln/>
        </p:spPr>
      </p:sp>
      <p:sp>
        <p:nvSpPr>
          <p:cNvPr id="25" name="Shape 23"/>
          <p:cNvSpPr/>
          <p:nvPr/>
        </p:nvSpPr>
        <p:spPr>
          <a:xfrm>
            <a:off x="4608576" y="423367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08576" y="4233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30" dirty="0"/>
          </a:p>
        </p:txBody>
      </p:sp>
      <p:sp>
        <p:nvSpPr>
          <p:cNvPr id="27" name="Text 25"/>
          <p:cNvSpPr txBox="1"/>
          <p:nvPr/>
        </p:nvSpPr>
        <p:spPr>
          <a:xfrm>
            <a:off x="4608576" y="4892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608576" y="523951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 backlog prepared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56448" y="397764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E8F1F5"/>
          </a:solidFill>
          <a:ln/>
        </p:spPr>
      </p:sp>
      <p:sp>
        <p:nvSpPr>
          <p:cNvPr id="30" name="Shape 28"/>
          <p:cNvSpPr/>
          <p:nvPr/>
        </p:nvSpPr>
        <p:spPr>
          <a:xfrm>
            <a:off x="8412480" y="423367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12480" y="4233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30" dirty="0"/>
          </a:p>
        </p:txBody>
      </p:sp>
      <p:sp>
        <p:nvSpPr>
          <p:cNvPr id="32" name="Text 30"/>
          <p:cNvSpPr txBox="1"/>
          <p:nvPr/>
        </p:nvSpPr>
        <p:spPr>
          <a:xfrm>
            <a:off x="8412480" y="4892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Decisions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523951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Pentaho, PostgreSQL, Python/Pandas, Git/GitHub, Power BI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ESCDP  |  Sprint 0 &amp; Sprint 1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091672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Requirements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4847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 data from multiple heterogeneous supply-chain sources.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CSV, Excel, JSON, XML and SQL data.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Quality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Profile, validate, clean and standardize source data.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curated data in PostgreSQL using a star schema.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 metadata, data dictionary, lineage and audit information.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Power BI dashboards for supply-chain analytics.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 project artifacts and code using Git/GitHub.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ESCDP  |  Sprint 0 &amp; Sprint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Data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1500" y="233172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1331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71500" y="2331720"/>
            <a:ext cx="1627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 rot="5400000">
            <a:off x="2217420" y="2775204"/>
            <a:ext cx="164592" cy="164592"/>
          </a:xfrm>
          <a:prstGeom prst="triangle">
            <a:avLst/>
          </a:prstGeom>
          <a:solidFill>
            <a:srgbClr val="5B6B79"/>
          </a:solidFill>
          <a:ln/>
        </p:spPr>
      </p:sp>
      <p:sp>
        <p:nvSpPr>
          <p:cNvPr id="7" name="Shape 5"/>
          <p:cNvSpPr/>
          <p:nvPr/>
        </p:nvSpPr>
        <p:spPr>
          <a:xfrm>
            <a:off x="2455164" y="233172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455164" y="2331720"/>
            <a:ext cx="1627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Pentaho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 rot="5400000">
            <a:off x="4101084" y="2775204"/>
            <a:ext cx="164592" cy="164592"/>
          </a:xfrm>
          <a:prstGeom prst="triangle">
            <a:avLst/>
          </a:prstGeom>
          <a:solidFill>
            <a:srgbClr val="5B6B79"/>
          </a:solidFill>
          <a:ln/>
        </p:spPr>
      </p:sp>
      <p:sp>
        <p:nvSpPr>
          <p:cNvPr id="10" name="Shape 8"/>
          <p:cNvSpPr/>
          <p:nvPr/>
        </p:nvSpPr>
        <p:spPr>
          <a:xfrm>
            <a:off x="4338828" y="233172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1331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38828" y="2331720"/>
            <a:ext cx="1627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 rot="5400000">
            <a:off x="5984748" y="2775204"/>
            <a:ext cx="164592" cy="164592"/>
          </a:xfrm>
          <a:prstGeom prst="triangle">
            <a:avLst/>
          </a:prstGeom>
          <a:solidFill>
            <a:srgbClr val="5B6B79"/>
          </a:solidFill>
          <a:ln/>
        </p:spPr>
      </p:sp>
      <p:sp>
        <p:nvSpPr>
          <p:cNvPr id="13" name="Shape 11"/>
          <p:cNvSpPr/>
          <p:nvPr/>
        </p:nvSpPr>
        <p:spPr>
          <a:xfrm>
            <a:off x="6222492" y="233172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22492" y="2331720"/>
            <a:ext cx="1627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 rot="5400000">
            <a:off x="7868412" y="2775204"/>
            <a:ext cx="164592" cy="164592"/>
          </a:xfrm>
          <a:prstGeom prst="triangle">
            <a:avLst/>
          </a:prstGeom>
          <a:solidFill>
            <a:srgbClr val="5B6B79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6156" y="233172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1331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06156" y="2331720"/>
            <a:ext cx="1627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 rot="5400000">
            <a:off x="9752076" y="2775204"/>
            <a:ext cx="164592" cy="164592"/>
          </a:xfrm>
          <a:prstGeom prst="triangle">
            <a:avLst/>
          </a:prstGeom>
          <a:solidFill>
            <a:srgbClr val="5B6B79"/>
          </a:solidFill>
          <a:ln/>
        </p:spPr>
      </p:sp>
      <p:sp>
        <p:nvSpPr>
          <p:cNvPr id="19" name="Shape 17"/>
          <p:cNvSpPr/>
          <p:nvPr/>
        </p:nvSpPr>
        <p:spPr>
          <a:xfrm>
            <a:off x="9989820" y="233172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989820" y="2331720"/>
            <a:ext cx="1627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03250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1248" y="3904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activities span metadata, lineage, glossary and audit information across every stage.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59943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1248" y="4471416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DataCo partitions retain Order Id as the common integration key.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16636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1248" y="503834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USAID/SCMS procurement and vendor data remain a separate source group.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ESCDP  |  Sprint 0 &amp; Sprint 1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091672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Discovery &amp; Source Preparation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source formats used in the project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743200"/>
                <a:gridCol w="3227832"/>
                <a:gridCol w="210312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Pentaho / Working 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Format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→ XML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→ Excel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 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XML → 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Fulfillment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USAID/SCMS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→ 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USAID/SCMS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→ Excel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 Centre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 Centre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ESCDP  |  Sprint 0 &amp; Sprint 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1672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&amp; Integration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preparation and shared-key considerations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2313432"/>
                <a:gridCol w="3657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Group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/ Identifier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→ XML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→ Excel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 Tracking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XML → JSON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Fulfillment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USAID/SCMS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 / Vendor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/ PO-SO 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CSV/JSON → working formats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 Centre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 Centre 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DB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ESCDP  |  Sprint 0 &amp; Sprint 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1672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Pentaho Transformations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implemented to prepare heterogeneous source data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  <a:gridCol w="67025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→ JSON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Converted Procurement CSV data to JSON for heterogeneous-source ingestion.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→ Excel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Converted WMS CSV data to Excel.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→ Excel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Converted Vendor Management JSON data to Excel.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 Tracking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XML → JSON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Converted Logistics Tracking XML data to JSON.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→ XML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Converted SCM CSV data to XML.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92040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E8F1F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48920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ERP, Distribution Centre, Inventory, TMS and Order Fulfillment remain in their stated source formats and do not have a Pentaho format transformation listed here.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ESCDP  |  Sprint 0 &amp; Sprint 1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91672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Did This in Sprint 0 &amp; Sprint 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the project and making the source data ready for ingestion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85816" cy="1874520"/>
          </a:xfrm>
          <a:prstGeom prst="roundRect">
            <a:avLst>
              <a:gd name="adj" fmla="val 3902"/>
            </a:avLst>
          </a:prstGeom>
          <a:solidFill>
            <a:srgbClr val="F7F9FA"/>
          </a:solidFill>
          <a:ln w="12700">
            <a:solidFill>
              <a:srgbClr val="E1E8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920240"/>
            <a:ext cx="4288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60320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business problem and supply-chain systems.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898648"/>
            <a:ext cx="4928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scope, requirements, architecture, repository structure and backlog.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54496" y="1691640"/>
            <a:ext cx="5385816" cy="1874520"/>
          </a:xfrm>
          <a:prstGeom prst="roundRect">
            <a:avLst>
              <a:gd name="adj" fmla="val 3902"/>
            </a:avLst>
          </a:prstGeom>
          <a:solidFill>
            <a:srgbClr val="F7F9FA"/>
          </a:solidFill>
          <a:ln w="12700">
            <a:solidFill>
              <a:srgbClr val="E1E8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83096" y="1920240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83096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23176" y="1920240"/>
            <a:ext cx="4288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83096" y="2560320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and prepare the actual source datasets.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83096" y="2898648"/>
            <a:ext cx="4928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source formats, added the Distribution Centre dataset, created required Pentaho transformations and prepared datasets for ingestion.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5385816" cy="1874520"/>
          </a:xfrm>
          <a:prstGeom prst="roundRect">
            <a:avLst>
              <a:gd name="adj" fmla="val 3902"/>
            </a:avLst>
          </a:prstGeom>
          <a:solidFill>
            <a:srgbClr val="F7F9FA"/>
          </a:solidFill>
          <a:ln w="12700">
            <a:solidFill>
              <a:srgbClr val="E1E8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069080"/>
            <a:ext cx="4288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Reason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709160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systems provide data in different formats.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047488"/>
            <a:ext cx="4928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transformations make sources suitable for a common ingestion process while retaining their business meaning.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54496" y="3840480"/>
            <a:ext cx="5385816" cy="1874520"/>
          </a:xfrm>
          <a:prstGeom prst="roundRect">
            <a:avLst>
              <a:gd name="adj" fmla="val 3902"/>
            </a:avLst>
          </a:prstGeom>
          <a:solidFill>
            <a:srgbClr val="F7F9FA"/>
          </a:solidFill>
          <a:ln w="12700">
            <a:solidFill>
              <a:srgbClr val="E1E8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83096" y="4069080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83096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123176" y="4069080"/>
            <a:ext cx="4288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Reason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483096" y="4709160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must be traceable across systems.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483096" y="5047488"/>
            <a:ext cx="4928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identifiers such as Order Id are retained where applicable so related DataCo data can be connected later.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ESCDP  |  Sprint 0 &amp; Sprint 1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091672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0 &amp; Sprint 1 — What Was Achieved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6916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the business problem, objectives, scope and solution architecture.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2199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22199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the GitHub project structure and Sprint 0 documentation.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5234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7523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the source systems and their working data formats.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28269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2826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the Distribution Centre database CSV as an additional source.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81304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813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five Pentaho transformations: Procurement CSV→JSON, WMS CSV→Excel, Vendor JSON→Excel, Logistics Tracking XML→JSON and SCM CSV→XML.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52628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ERP as SQL, Distribution Centre as CSV, Inventory as CSV, TMS as Excel and Order Fulfillment as CSV.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23951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23951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the source layer for consistent ingestion while preserving relevant business identifiers.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ESCDP  |  Sprint 0 &amp; Sprint 1   ·   10/10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2026-08-28T03:42:16Z</dcterms:created>
  <dcterms:modified xsi:type="dcterms:W3CDTF">2026-08-28T03:42:16Z</dcterms:modified>
</cp:coreProperties>
</file>