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9" r:id="rId11"/>
    <p:sldId id="270" r:id="rId12"/>
    <p:sldId id="272" r:id="rId13"/>
    <p:sldId id="273" r:id="rId14"/>
    <p:sldId id="274" r:id="rId15"/>
    <p:sldId id="276" r:id="rId16"/>
    <p:sldId id="277" r:id="rId17"/>
    <p:sldId id="281" r:id="rId18"/>
    <p:sldId id="282" r:id="rId19"/>
    <p:sldId id="283" r:id="rId20"/>
    <p:sldId id="284" r:id="rId21"/>
    <p:sldId id="285" r:id="rId22"/>
    <p:sldId id="286" r:id="rId23"/>
    <p:sldId id="28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548640"/>
            <a:ext cx="1234440" cy="1234440"/>
          </a:xfrm>
          <a:prstGeom prst="ellipse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645920"/>
            <a:ext cx="685800" cy="685800"/>
          </a:xfrm>
          <a:prstGeom prst="ellipse">
            <a:avLst/>
          </a:prstGeom>
          <a:solidFill>
            <a:srgbClr val="31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64040" y="2240280"/>
            <a:ext cx="457200" cy="457200"/>
          </a:xfrm>
          <a:prstGeom prst="ellipse">
            <a:avLst/>
          </a:prstGeom>
          <a:solidFill>
            <a:srgbClr val="E1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20" y="2926080"/>
            <a:ext cx="914400" cy="914400"/>
          </a:xfrm>
          <a:prstGeom prst="ellipse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0" y="3931920"/>
            <a:ext cx="1234440" cy="1234440"/>
          </a:xfrm>
          <a:prstGeom prst="ellipse">
            <a:avLst/>
          </a:prstGeom>
          <a:solidFill>
            <a:srgbClr val="31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5029200"/>
            <a:ext cx="594360" cy="594360"/>
          </a:xfrm>
          <a:prstGeom prst="ellipse">
            <a:avLst/>
          </a:prstGeom>
          <a:solidFill>
            <a:srgbClr val="E1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8229600" cy="1463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Enterprise Supply Chain
Data Platform (ESCDP)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8046720" cy="5029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100" b="1">
                <a:solidFill>
                  <a:srgbClr val="B7DBE0"/>
                </a:solidFill>
                <a:latin typeface="Aptos"/>
              </a:rPr>
              <a:t>Sprint 0, Sprint 1, Sprint 2 &amp; Sprint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8046720" cy="9144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700" b="0">
                <a:solidFill>
                  <a:srgbClr val="FFFFFF"/>
                </a:solidFill>
                <a:latin typeface="Aptos"/>
              </a:rPr>
              <a:t>Project initiation • ETL ingestion • Data quality • Star schema • Simulated ingestion • Power BI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77724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200" b="0">
                <a:solidFill>
                  <a:srgbClr val="D2DCE8"/>
                </a:solidFill>
                <a:latin typeface="Aptos"/>
              </a:rPr>
              <a:t>Progress presentation based on the capstone brief and project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Business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Why a unified supply-chain data platform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ABC Global Manufacturing Ltd. operates across manufacturing plants, distribution centers, warehouses, logistics partners, and retail outlets.</a:t>
            </a:r>
          </a:p>
          <a:p>
            <a:pPr>
              <a:spcAft>
                <a:spcPts val="1600"/>
              </a:spcAft>
              <a:defRPr sz="18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Operational data is generated by separate enterprise systems across different business functions.</a:t>
            </a:r>
          </a:p>
          <a:p>
            <a:pPr>
              <a:spcAft>
                <a:spcPts val="1600"/>
              </a:spcAft>
              <a:defRPr sz="18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Independent systems make end-to-end visibility and cross-process analysis difficult.</a:t>
            </a:r>
          </a:p>
          <a:p>
            <a:pPr>
              <a:spcAft>
                <a:spcPts val="1600"/>
              </a:spcAft>
              <a:defRPr sz="18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The platform aims to bring heterogeneous datasets into a common data foundation for reliable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Target outcomes defined in the capstone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Data integration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Collect supply-chain data from multiple enterprise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74720" cy="141732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Data quality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Clean, validate, and standardize logistics and inventory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474720" cy="1417320"/>
          </a:xfrm>
          <a:prstGeom prst="roundRect">
            <a:avLst/>
          </a:prstGeom>
          <a:solidFill>
            <a:srgbClr val="F3F0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Data warehouse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Store curated datasets in PostgreSQL for analytical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429000"/>
            <a:ext cx="347472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Traceability foundation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Keep the solution structured for metadata and lineage work later.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29000"/>
            <a:ext cx="3474720" cy="141732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Analytics readiness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Support inventory, logistics, supplier, and executive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Tools used or defined for the ESCDP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747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Pentaho Data Integration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Visual ETL transformations and Table Output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132588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PostgreSQL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Relational database for staging and warehouse structures.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474720" cy="1325880"/>
          </a:xfrm>
          <a:prstGeom prst="roundRect">
            <a:avLst/>
          </a:prstGeom>
          <a:solidFill>
            <a:srgbClr val="F3F0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Python / Pandas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Profiling, data-quality checks, and cleaning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337560"/>
            <a:ext cx="34747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Git &amp; GitHub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Version control and project artifact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37560"/>
            <a:ext cx="3474720" cy="132588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Power BI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Reporting platform identified in the project technology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Sprint 0 — Project Initiation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Preparing the project before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Study the supply-chain business processes.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Identify business stakeholders and enterprise data sources.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Define project scope and prepare the Business Requirements Document (BRD).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Design the high-level solution architecture.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Create the Git repository, enterprise repository structure, and product/sprint backlog.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Prepare the project charter and initiation deliverables.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High-Level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End-to-end flow across ingestion, quality, warehouse, and operational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205740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Source systems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SCM • ERP • WMS</a:t>
            </a:r>
            <a:br/>
            <a:r>
              <a:rPr>
                <a:latin typeface="Aptos"/>
              </a:rPr>
              <a:t>TMS • Vendor • Logistics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057400"/>
            <a:ext cx="2057400" cy="114300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Ingestion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Pentaho ETL</a:t>
            </a:r>
            <a:br/>
            <a:r>
              <a:rPr>
                <a:latin typeface="Aptos"/>
              </a:rPr>
              <a:t>Input &amp; transformation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057400"/>
            <a:ext cx="205740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Data storage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PostgreSQL</a:t>
            </a:r>
            <a:br/>
            <a:r>
              <a:rPr>
                <a:latin typeface="Aptos"/>
              </a:rPr>
              <a:t>Staging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057400"/>
            <a:ext cx="2057400" cy="114300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Data preparation
Python / Pandas_x000B_Profiling &amp; cleaning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0" y="4160520"/>
            <a:ext cx="205740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Warehouse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Fact &amp; dimension</a:t>
            </a:r>
            <a:br/>
            <a:r>
              <a:rPr>
                <a:latin typeface="Aptos"/>
              </a:rPr>
              <a:t>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160520"/>
            <a:ext cx="2057400" cy="114300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Reporting &amp; monitoring
SQL checks • Power BI_x000B_Dashboard evidence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br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2788920" y="2633472"/>
            <a:ext cx="457200" cy="0"/>
          </a:xfrm>
          <a:prstGeom prst="line">
            <a:avLst/>
          </a:prstGeom>
          <a:ln w="1905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2633472"/>
            <a:ext cx="457200" cy="0"/>
          </a:xfrm>
          <a:prstGeom prst="line">
            <a:avLst/>
          </a:prstGeom>
          <a:ln w="1905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18120" y="2633472"/>
            <a:ext cx="457200" cy="0"/>
          </a:xfrm>
          <a:prstGeom prst="line">
            <a:avLst/>
          </a:prstGeom>
          <a:ln w="1905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81160" y="3200400"/>
            <a:ext cx="685800" cy="960120"/>
          </a:xfrm>
          <a:prstGeom prst="line">
            <a:avLst/>
          </a:prstGeom>
          <a:ln w="1905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046720" y="4709160"/>
            <a:ext cx="1097280" cy="0"/>
          </a:xfrm>
          <a:prstGeom prst="line">
            <a:avLst/>
          </a:prstGeom>
          <a:ln w="1905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Sprint 3 adds a separate demo path: processed CSVs → Python replay → staging.realtime_events. This is simulated streaming, not a live external feed.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Sprint 1 — Data Discovery &amp;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Building the raw-data landing and staging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Analyze the enterprise source systems and prepare a source inventory.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Prepare a data dictionary describing the source fields.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Develop Pentaho transformations for CSV, Excel, JSON, XML, and SQL-derived data.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Load source records into PostgreSQL staging tables.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Use logging and basic exception handling where configured.</a:t>
            </a:r>
          </a:p>
          <a:p>
            <a:pPr>
              <a:spcAft>
                <a:spcPts val="11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Keep project code and artifacts under version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Ten Supply-Chain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Source domains included in the ingestion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749808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Distribution Center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Warehouse locations and operating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5166360" cy="749808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Inventory Management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Order-item quantity, prices, totals, and discounts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5166360" cy="749808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Logistics Tracking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Delivery status and late-delivery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331720"/>
            <a:ext cx="5166360" cy="749808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Order Fulfillment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Order dates, status, customer, and destination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166360" cy="749808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Procurement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Purchase orders, quantities, prices, freight, and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246120"/>
            <a:ext cx="5166360" cy="749808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Supply Chain Management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Market, region, and geographic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66360" cy="749808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Transportation Management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Shipping mode and shipping-duration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4160520"/>
            <a:ext cx="5166360" cy="749808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Vendor Management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Vendor, manufacturing site, terms, and delivery 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5166360" cy="749808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Warehouse Management (WMS)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Product, category, department, and order-item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5074920"/>
            <a:ext cx="5166360" cy="749808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Enterprise Resource Planning (ERP)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Customer, order, sales, and profit fields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Sprint 1 — Pentaho Pipeline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User-provided transformation screenshot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053328"/>
            <a:ext cx="10698480" cy="2286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The screenshot shows separate input-to-output flows for the listed source datasets.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PostgreSQL Staging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Landing tables for source-aligned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583680" cy="43891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A dedicated staging schema separates source-level ingestion from analytical warehouse tables.</a:t>
            </a:r>
          </a:p>
          <a:p>
            <a:pPr>
              <a:spcAft>
                <a:spcPts val="12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Staging table definitions preserve the original source column names, including spaces and punctuation.</a:t>
            </a:r>
          </a:p>
          <a:p>
            <a:pPr>
              <a:spcAft>
                <a:spcPts val="12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Quoted identifiers are required in PostgreSQL for names such as "Order Item Quantity".</a:t>
            </a:r>
          </a:p>
          <a:p>
            <a:pPr>
              <a:spcAft>
                <a:spcPts val="12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TEXT columns can be used as an initial landing type, followed by validation and conversion where appropriate.</a:t>
            </a:r>
          </a:p>
          <a:p>
            <a:pPr>
              <a:spcAft>
                <a:spcPts val="12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Staging tables provide the basis for profiling, transformation, and later warehouse loading.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333756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Source field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"Order Item Quantity"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383280"/>
            <a:ext cx="3337560" cy="123444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PostgreSQL syntax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"Order Item Quantity"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Sprint 2 — Data Profiling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Transforming raw data into more trusted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Profile the datasets with Python to inspect rows, columns, and missing-value patterns.</a:t>
            </a:r>
          </a:p>
          <a:p>
            <a:pPr>
              <a:spcAft>
                <a:spcPts val="12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Identify potential duplicate records and missing logistics or shipment details.</a:t>
            </a:r>
          </a:p>
          <a:p>
            <a:pPr>
              <a:spcAft>
                <a:spcPts val="12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Review supplier and warehouse data-quality issues.</a:t>
            </a:r>
          </a:p>
          <a:p>
            <a:pPr>
              <a:spcAft>
                <a:spcPts val="12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Clean and standardize data before loading into the analytical warehouse.</a:t>
            </a:r>
          </a:p>
          <a:p>
            <a:pPr>
              <a:spcAft>
                <a:spcPts val="12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Design the star schema and create SQL scripts for fact and dimension tables.</a:t>
            </a:r>
          </a:p>
          <a:p>
            <a:pPr>
              <a:spcAft>
                <a:spcPts val="12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Continue project updates in Git.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Data Cleaning &amp;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Cleaning decisions applied by the Python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74720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Missing markers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Normalize common blank/null representations.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137160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Empty columns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Remove columns with 100% missing values where detected.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474720" cy="1371600"/>
          </a:xfrm>
          <a:prstGeom prst="roundRect">
            <a:avLst/>
          </a:prstGeom>
          <a:solidFill>
            <a:srgbClr val="F3F0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Text &amp; duplicates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Trim whitespace and remove exact duplicate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10424160" cy="20116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Missing categorical values may be filled with an appropriate existing category when justified.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Missing dates and identifiers are retained for review instead of inventing values.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Processed outputs are written as CSV files under data/processed/; raw files remain unchanged.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Generated reports document cleaning summary, issues, imputations, and processing errors.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Data Quality &amp; Cleaning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Artifacts produced by the Python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cleaning_summary.csv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Processing status, input/output row counts, and dropped-column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cleaning_issues.csv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Removed empty columns, duplicate rows, and missing values retained for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5212080" cy="1325880"/>
          </a:xfrm>
          <a:prstGeom prst="roundRect">
            <a:avLst/>
          </a:prstGeom>
          <a:solidFill>
            <a:srgbClr val="F3F0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imputation_report.csv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Records which columns were filled, how many values, and the selected method.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5212080" cy="1325880"/>
          </a:xfrm>
          <a:prstGeom prst="roundRect">
            <a:avLst/>
          </a:prstGeom>
          <a:solidFill>
            <a:srgbClr val="FCF1EF"/>
          </a:solidFill>
          <a:ln>
            <a:solidFill>
              <a:srgbClr val="E1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E1A43E"/>
                </a:solidFill>
                <a:latin typeface="Aptos Display"/>
              </a:defRPr>
            </a:pPr>
            <a:r>
              <a:rPr>
                <a:latin typeface="Aptos"/>
              </a:rPr>
              <a:t>cleaning_errors.csv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Records source files that failed to process and the associated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149840" cy="4572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400" b="1">
                <a:solidFill>
                  <a:srgbClr val="182B49"/>
                </a:solidFill>
                <a:latin typeface="Aptos"/>
              </a:rPr>
              <a:t>Review these reports before treating the processed datasets as ready for warehouse loading.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Sprint 2 — Star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Based on the supplied Star_schema_new.sql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148840"/>
            <a:ext cx="4023360" cy="150876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Six fact tables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fact_order_sales • fact_inventory • fact_shipping</a:t>
            </a:r>
            <a:br/>
            <a:r>
              <a:rPr>
                <a:latin typeface="Aptos"/>
              </a:rPr>
              <a:t>fact_warehouse • fact_procurement • fact_delivery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25603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dim_date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Calendar attributes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25603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dim_customer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Customer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23360"/>
            <a:ext cx="25603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dim_product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Product/category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554480"/>
            <a:ext cx="25603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dim_geography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Location and region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788920"/>
            <a:ext cx="25603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dim_warehouse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Warehouse 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4023360"/>
            <a:ext cx="25603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dim_vendor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Vendor attributes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251960"/>
            <a:ext cx="3063240" cy="77724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dim_order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Order type/status/date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325880"/>
            <a:ext cx="3063240" cy="64008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dim_shipping_mode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Shipping method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1965960"/>
            <a:ext cx="822960" cy="502920"/>
          </a:xfrm>
          <a:prstGeom prst="line">
            <a:avLst/>
          </a:prstGeom>
          <a:ln w="1524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246120" y="2834640"/>
            <a:ext cx="822960" cy="365760"/>
          </a:xfrm>
          <a:prstGeom prst="line">
            <a:avLst/>
          </a:prstGeom>
          <a:ln w="1524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46120" y="3383280"/>
            <a:ext cx="822960" cy="1051560"/>
          </a:xfrm>
          <a:prstGeom prst="line">
            <a:avLst/>
          </a:prstGeom>
          <a:ln w="1524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092440" y="1965960"/>
            <a:ext cx="822960" cy="502920"/>
          </a:xfrm>
          <a:prstGeom prst="line">
            <a:avLst/>
          </a:prstGeom>
          <a:ln w="1524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92440" y="2834640"/>
            <a:ext cx="822960" cy="365760"/>
          </a:xfrm>
          <a:prstGeom prst="line">
            <a:avLst/>
          </a:prstGeom>
          <a:ln w="1524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92440" y="3383280"/>
            <a:ext cx="822960" cy="1051560"/>
          </a:xfrm>
          <a:prstGeom prst="line">
            <a:avLst/>
          </a:prstGeom>
          <a:ln w="1524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35040" y="1874519"/>
            <a:ext cx="0" cy="91441"/>
          </a:xfrm>
          <a:prstGeom prst="line">
            <a:avLst/>
          </a:prstGeom>
          <a:ln w="1524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35040" y="3657600"/>
            <a:ext cx="0" cy="594360"/>
          </a:xfrm>
          <a:prstGeom prst="line">
            <a:avLst/>
          </a:prstGeom>
          <a:ln w="15240">
            <a:solidFill>
              <a:srgbClr val="67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200" b="0">
                <a:solidFill>
                  <a:srgbClr val="677482"/>
                </a:solidFill>
                <a:latin typeface="Aptos"/>
              </a:rPr>
              <a:t>The diagram summarizes the supplied schema; actual fact-to-dimension joins must be validated.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Fact Tables &amp; Business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Six fact tables are defined in the supplied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fact_order_sales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Sales, profit, benefit, and profit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429000" cy="137160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fact_inventory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Quantity, prices, totals, and discounts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54480"/>
            <a:ext cx="3429000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fact_shipping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Delivery risk, shipping days, and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3429000" cy="137160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fact_warehouse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Inventory, capacity, utilization, and shipment 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383280"/>
            <a:ext cx="3429000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31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6AB"/>
                </a:solidFill>
                <a:latin typeface="Aptos Display"/>
              </a:defRPr>
            </a:pPr>
            <a:r>
              <a:rPr>
                <a:latin typeface="Aptos"/>
              </a:rPr>
              <a:t>fact_procurement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Purchase quantities, prices, freight, and insurance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383280"/>
            <a:ext cx="3429000" cy="1371600"/>
          </a:xfrm>
          <a:prstGeom prst="roundRect">
            <a:avLst/>
          </a:prstGeom>
          <a:solidFill>
            <a:srgbClr val="EBF7F5"/>
          </a:solidFill>
          <a:ln>
            <a:solidFill>
              <a:srgbClr val="1C8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C8F87"/>
                </a:solidFill>
                <a:latin typeface="Aptos Display"/>
              </a:defRPr>
            </a:pPr>
            <a:r>
              <a:rPr>
                <a:latin typeface="Aptos"/>
              </a:rPr>
              <a:t>fact_delivery</a:t>
            </a:r>
          </a:p>
          <a:p>
            <a:pPr>
              <a:defRPr sz="11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Scheduled/delivered dates and delivery status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3035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2500" b="1">
                <a:solidFill>
                  <a:srgbClr val="182B49"/>
                </a:solidFill>
                <a:latin typeface="Aptos"/>
              </a:rPr>
              <a:t>Fact Grain &amp; Relationship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1100" b="0">
                <a:solidFill>
                  <a:srgbClr val="677482"/>
                </a:solidFill>
                <a:latin typeface="Aptos"/>
              </a:rPr>
              <a:t>Important validation before loading warehouse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97864"/>
            <a:ext cx="10972800" cy="32004"/>
          </a:xfrm>
          <a:prstGeom prst="rect">
            <a:avLst/>
          </a:prstGeom>
          <a:solidFill>
            <a:srgbClr val="1C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r>
              <a:rPr sz="900" b="0">
                <a:solidFill>
                  <a:srgbClr val="677482"/>
                </a:solidFill>
                <a:latin typeface="Aptos"/>
              </a:rPr>
              <a:t>ESCDP | Sprint 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/>
            <a:r>
              <a:rPr sz="900" b="0">
                <a:solidFill>
                  <a:srgbClr val="677482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fact_order_sales: intended grain is one row per order.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fact_inventory: intended grain is one row per source inventory/order-item line.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fact_shipping: intended grain is one consolidated shipping record per order, if the source supports it.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fact_warehouse: intended grain is one warehouse snapshot per date and product, where available.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fact_procurement: intended grain is one procurement line per source ID.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fact_delivery: intended grain is one procurement/vendor delivery record.</a:t>
            </a:r>
          </a:p>
          <a:p>
            <a:pPr>
              <a:spcAft>
                <a:spcPts val="1000"/>
              </a:spcAft>
              <a:defRPr sz="1600">
                <a:solidFill>
                  <a:srgbClr val="2B3440"/>
                </a:solidFill>
                <a:latin typeface="Aptos"/>
              </a:defRPr>
            </a:pPr>
            <a:r>
              <a:rPr>
                <a:latin typeface="Aptos"/>
              </a:rPr>
              <a:t>Check source keys and row multiplicity to prevent duplicate joins and inflated totals.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2700" b="1">
                <a:solidFill>
                  <a:srgbClr val="1B365D"/>
                </a:solidFill>
                <a:latin typeface="Aptos Display"/>
              </a:defRPr>
            </a:pPr>
            <a:r>
              <a:rPr>
                <a:latin typeface="Aptos"/>
              </a:rPr>
              <a:t>Sprint 3 — Analytics &amp; Simulated Real-Time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11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Extending the platform from warehouse design toward operational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51560" cy="50292"/>
          </a:xfrm>
          <a:prstGeom prst="rect">
            <a:avLst/>
          </a:prstGeom>
          <a:solidFill>
            <a:srgbClr val="1E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Objective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Demonstrate incremental arrival of supply-chain records in PostgreSQL and present warehouse metrics through Power BI.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33472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Simulated real-time ingestion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Python replays cleaned CSV records from data/processed and inserts them incrementally into staging.realtime_events.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9624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Analytics layer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The warehouse star schema provides a structured model for sales, inventory, shipping, procurement, warehouse, and delivery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65776"/>
            <a:ext cx="10881360" cy="8686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Dashboard evidence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Power BI report pages cover supply-chain overview, inventory analytics, and logistics/delivery analytics.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5156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>
              <a:defRPr sz="8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ESCDP | Sprint 0–3  • 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2700" b="1">
                <a:solidFill>
                  <a:srgbClr val="1B365D"/>
                </a:solidFill>
                <a:latin typeface="Aptos Display"/>
              </a:defRPr>
            </a:pPr>
            <a:r>
              <a:rPr>
                <a:latin typeface="Aptos"/>
              </a:rPr>
              <a:t>Sprint 3 — Simulated Ingestion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11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The current demo replays existing records; it is not a live external event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51560" cy="50292"/>
          </a:xfrm>
          <a:prstGeom prst="rect">
            <a:avLst/>
          </a:prstGeom>
          <a:solidFill>
            <a:srgbClr val="1E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19456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5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1  Processed CSVs</a:t>
            </a:r>
          </a:p>
          <a:p>
            <a:pPr algn="ctr">
              <a:defRPr sz="1100">
                <a:solidFill>
                  <a:srgbClr val="242D38"/>
                </a:solidFill>
              </a:defRPr>
            </a:pPr>
            <a:r>
              <a:rPr>
                <a:latin typeface="Aptos"/>
              </a:rPr>
              <a:t>data/processed/</a:t>
            </a:r>
            <a:br/>
            <a:r>
              <a:rPr>
                <a:latin typeface="Aptos"/>
              </a:rPr>
              <a:t>10 source domains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645920"/>
            <a:ext cx="2331720" cy="1051560"/>
          </a:xfrm>
          <a:prstGeom prst="roundRect">
            <a:avLst/>
          </a:prstGeom>
          <a:solidFill>
            <a:srgbClr val="E7F4F3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5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2  Python ingestion</a:t>
            </a:r>
          </a:p>
          <a:p>
            <a:pPr algn="ctr">
              <a:defRPr sz="1100">
                <a:solidFill>
                  <a:srgbClr val="242D38"/>
                </a:solidFill>
              </a:defRPr>
            </a:pPr>
            <a:r>
              <a:rPr>
                <a:latin typeface="Aptos"/>
              </a:rPr>
              <a:t>realtime_ingestion.py</a:t>
            </a:r>
            <a:br/>
            <a:r>
              <a:rPr>
                <a:latin typeface="Aptos"/>
              </a:rPr>
              <a:t>Read • validate • 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45920"/>
            <a:ext cx="2468880" cy="1051560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5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3  PostgreSQL staging</a:t>
            </a:r>
          </a:p>
          <a:p>
            <a:pPr algn="ctr">
              <a:defRPr sz="1100">
                <a:solidFill>
                  <a:srgbClr val="242D38"/>
                </a:solidFill>
              </a:defRPr>
            </a:pPr>
            <a:r>
              <a:rPr>
                <a:latin typeface="Aptos"/>
              </a:rPr>
              <a:t>staging.realtime_events</a:t>
            </a:r>
            <a:br/>
            <a:r>
              <a:rPr>
                <a:latin typeface="Aptos"/>
              </a:rPr>
              <a:t>JSONB payload + timestamp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45920"/>
            <a:ext cx="2331720" cy="1051560"/>
          </a:xfrm>
          <a:prstGeom prst="roundRect">
            <a:avLst/>
          </a:prstGeom>
          <a:solidFill>
            <a:srgbClr val="EDF6ED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5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4  SQL verification</a:t>
            </a:r>
          </a:p>
          <a:p>
            <a:pPr algn="ctr">
              <a:defRPr sz="1100">
                <a:solidFill>
                  <a:srgbClr val="242D38"/>
                </a:solidFill>
              </a:defRPr>
            </a:pPr>
            <a:r>
              <a:rPr>
                <a:latin typeface="Aptos"/>
              </a:rPr>
              <a:t>Counts • latest events</a:t>
            </a:r>
            <a:br/>
            <a:r>
              <a:rPr>
                <a:latin typeface="Aptos"/>
              </a:rPr>
              <a:t>source and timestamp checks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2167128"/>
            <a:ext cx="347472" cy="0"/>
          </a:xfrm>
          <a:prstGeom prst="line">
            <a:avLst/>
          </a:prstGeom>
          <a:ln w="25400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96128" y="2167128"/>
            <a:ext cx="420624" cy="0"/>
          </a:xfrm>
          <a:prstGeom prst="line">
            <a:avLst/>
          </a:prstGeom>
          <a:ln w="25400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95360" y="2167128"/>
            <a:ext cx="393192" cy="0"/>
          </a:xfrm>
          <a:prstGeom prst="line">
            <a:avLst/>
          </a:prstGeom>
          <a:ln w="25400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154680"/>
            <a:ext cx="521208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Basic controls</a:t>
            </a:r>
          </a:p>
          <a:p>
            <a:pPr>
              <a:spcAft>
                <a:spcPts val="500"/>
              </a:spcAft>
              <a:defRPr sz="1300" b="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• Empty/all-blank row checks</a:t>
            </a:r>
          </a:p>
          <a:p>
            <a:pPr>
              <a:spcAft>
                <a:spcPts val="500"/>
              </a:spcAft>
              <a:defRPr sz="1300" b="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• Duplicate prevention by source file + row number</a:t>
            </a:r>
          </a:p>
          <a:p>
            <a:pPr>
              <a:spcAft>
                <a:spcPts val="500"/>
              </a:spcAft>
              <a:defRPr sz="1300" b="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• Inserted / skipped / invalid / failed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54680"/>
            <a:ext cx="521208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PostgreSQL event record</a:t>
            </a:r>
          </a:p>
          <a:p>
            <a:pPr>
              <a:spcAft>
                <a:spcPts val="500"/>
              </a:spcAft>
              <a:defRPr sz="1300" b="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• source_dataset, source_file, source_row_number</a:t>
            </a:r>
          </a:p>
          <a:p>
            <a:pPr>
              <a:spcAft>
                <a:spcPts val="500"/>
              </a:spcAft>
              <a:defRPr sz="1300" b="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• ingestion_time</a:t>
            </a:r>
          </a:p>
          <a:p>
            <a:pPr>
              <a:spcAft>
                <a:spcPts val="500"/>
              </a:spcAft>
              <a:defRPr sz="1300" b="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• payload stored as JSONB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0698480" cy="640080"/>
          </a:xfrm>
          <a:prstGeom prst="roundRect">
            <a:avLst/>
          </a:prstGeom>
          <a:solidFill>
            <a:srgbClr val="FAFA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A6470"/>
                </a:solidFill>
                <a:latin typeface="Aptos"/>
              </a:defRPr>
            </a:pPr>
            <a:r>
              <a:rPr>
                <a:latin typeface="Aptos"/>
              </a:rPr>
              <a:t>Demo pacing is configurable (e.g., 0.5 seconds per successful insert). Repeated loops skip already-ingested source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6510528"/>
            <a:ext cx="105156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>
              <a:defRPr sz="8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ESCDP | Sprint 0–3  • 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2700" b="1">
                <a:solidFill>
                  <a:srgbClr val="1B365D"/>
                </a:solidFill>
                <a:latin typeface="Aptos Display"/>
              </a:defRPr>
            </a:pPr>
            <a:r>
              <a:rPr>
                <a:latin typeface="Aptos"/>
              </a:rPr>
              <a:t>Warehouse Star Schema — Dimensions &amp;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11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Warehouse model defined in the supplied SQL; validate source-key mappings before loading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51560" cy="50292"/>
          </a:xfrm>
          <a:prstGeom prst="rect">
            <a:avLst/>
          </a:prstGeom>
          <a:solidFill>
            <a:srgbClr val="1E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60520" y="2057400"/>
            <a:ext cx="3794760" cy="2057400"/>
          </a:xfrm>
          <a:prstGeom prst="round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FACT TABLES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• fact_order_sales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• fact_inventory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• fact_shipping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• fact_warehouse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• fact_procurement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• fact_delivery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33172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dim_date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39" y="1929384"/>
            <a:ext cx="1325881" cy="1156716"/>
          </a:xfrm>
          <a:prstGeom prst="line">
            <a:avLst/>
          </a:prstGeom>
          <a:ln w="15875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606040"/>
            <a:ext cx="233172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dim_customer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39" y="2935224"/>
            <a:ext cx="1325881" cy="150876"/>
          </a:xfrm>
          <a:prstGeom prst="line">
            <a:avLst/>
          </a:prstGeom>
          <a:ln w="15875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3611880"/>
            <a:ext cx="233172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dim_product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834639" y="3086100"/>
            <a:ext cx="1325881" cy="854964"/>
          </a:xfrm>
          <a:prstGeom prst="line">
            <a:avLst/>
          </a:prstGeom>
          <a:ln w="15875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1600200"/>
            <a:ext cx="24688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dim_geography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955279" y="1929384"/>
            <a:ext cx="1188721" cy="1156716"/>
          </a:xfrm>
          <a:prstGeom prst="line">
            <a:avLst/>
          </a:prstGeom>
          <a:ln w="15875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2606040"/>
            <a:ext cx="24688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dim_warehouse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955279" y="2935224"/>
            <a:ext cx="1188721" cy="150876"/>
          </a:xfrm>
          <a:prstGeom prst="line">
            <a:avLst/>
          </a:prstGeom>
          <a:ln w="15875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3611880"/>
            <a:ext cx="24688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dim_vendor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7955279" y="3086100"/>
            <a:ext cx="1188721" cy="854964"/>
          </a:xfrm>
          <a:prstGeom prst="line">
            <a:avLst/>
          </a:prstGeom>
          <a:ln w="15875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063240" y="4709160"/>
            <a:ext cx="24688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dim_shipping_mode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160520" y="3086100"/>
            <a:ext cx="1371600" cy="1952244"/>
          </a:xfrm>
          <a:prstGeom prst="line">
            <a:avLst/>
          </a:prstGeom>
          <a:ln w="15875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29400" y="4709160"/>
            <a:ext cx="24688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B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rPr>
                <a:latin typeface="Aptos"/>
              </a:rPr>
              <a:t>dim_order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6057900" y="4114800"/>
            <a:ext cx="1805940" cy="594360"/>
          </a:xfrm>
          <a:prstGeom prst="line">
            <a:avLst/>
          </a:prstGeom>
          <a:ln w="15875">
            <a:solidFill>
              <a:srgbClr val="1E8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5596128"/>
            <a:ext cx="10972800" cy="502920"/>
          </a:xfrm>
          <a:prstGeom prst="roundRect">
            <a:avLst/>
          </a:prstGeom>
          <a:solidFill>
            <a:srgbClr val="FAFA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A6470"/>
                </a:solidFill>
                <a:latin typeface="Aptos"/>
              </a:defRPr>
            </a:pPr>
            <a:r>
              <a:rPr>
                <a:latin typeface="Aptos"/>
              </a:rPr>
              <a:t>Dimensions describe the business context; fact tables store measurable activity. Foreign keys, grain, and joins must be checked to avoid double counting.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510528"/>
            <a:ext cx="105156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>
              <a:defRPr sz="8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ESCDP | Sprint 0–3  • 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2700" b="1">
                <a:solidFill>
                  <a:srgbClr val="1B365D"/>
                </a:solidFill>
                <a:latin typeface="Aptos Display"/>
              </a:defRPr>
            </a:pPr>
            <a:r>
              <a:rPr>
                <a:latin typeface="Aptos"/>
              </a:rPr>
              <a:t>Star Schema — Table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11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Eight dimensions and six facts are defined in the supplied PostgreSQL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51560" cy="50292"/>
          </a:xfrm>
          <a:prstGeom prst="rect">
            <a:avLst/>
          </a:prstGeom>
          <a:solidFill>
            <a:srgbClr val="1E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8686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Dimensions (8)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dim_date, dim_customer, dim_product, dim_geography, dim_warehouse, dim_vendor, dim_shipping_mode, dim_order.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50591"/>
            <a:ext cx="10881360" cy="8686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Order &amp; inventory facts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fact_order_sales stores sales/profit measures; fact_inventory stores quantity, prices, totals, and discounts.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83863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Logistics &amp; warehouse facts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fact_shipping stores delivery risk/status and shipping-day measures; fact_warehouse stores inventory, capacity, utilization, and operational measures.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00016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Procurement &amp; delivery facts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fact_procurement stores purchase quantities, values, prices, freight, and insurance; fact_delivery stores scheduled/delivered dates and delivery duration/status.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41848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Important mapping caveat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The SQL includes safeguards and nullable keys where source mappings are not yet verified. Validate product-to-inventory and procurement-to-vendor mappings before loading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510528"/>
            <a:ext cx="105156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>
              <a:defRPr sz="8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ESCDP | Sprint 0–3  • 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2700" b="1">
                <a:solidFill>
                  <a:srgbClr val="1B365D"/>
                </a:solidFill>
                <a:latin typeface="Aptos Display"/>
              </a:defRPr>
            </a:pPr>
            <a:r>
              <a:rPr>
                <a:latin typeface="Aptos"/>
              </a:rPr>
              <a:t>Sprint 3 — Power BI Dashboard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11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User-provided dashboard export: supply-chain overview, inventory, and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51560" cy="50292"/>
          </a:xfrm>
          <a:prstGeom prst="rect">
            <a:avLst/>
          </a:prstGeom>
          <a:solidFill>
            <a:srgbClr val="1E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03320" cy="384048"/>
          </a:xfrm>
          <a:prstGeom prst="roundRect">
            <a:avLst/>
          </a:prstGeom>
          <a:solidFill>
            <a:srgbClr val="F0F5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B365D"/>
                </a:solidFill>
                <a:latin typeface="Aptos"/>
              </a:defRPr>
            </a:pPr>
            <a:r>
              <a:rPr>
                <a:latin typeface="Aptos"/>
              </a:rPr>
              <a:t>Supply Chain Dashboard</a:t>
            </a:r>
          </a:p>
        </p:txBody>
      </p:sp>
      <p:pic>
        <p:nvPicPr>
          <p:cNvPr id="6" name="Picture 5" descr="dashboar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370332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89120" y="1325880"/>
            <a:ext cx="3703320" cy="384048"/>
          </a:xfrm>
          <a:prstGeom prst="roundRect">
            <a:avLst/>
          </a:prstGeom>
          <a:solidFill>
            <a:srgbClr val="F0F5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B365D"/>
                </a:solidFill>
                <a:latin typeface="Aptos"/>
              </a:defRPr>
            </a:pPr>
            <a:r>
              <a:rPr>
                <a:latin typeface="Aptos"/>
              </a:rPr>
              <a:t>Inventory Analytics</a:t>
            </a:r>
          </a:p>
        </p:txBody>
      </p:sp>
      <p:pic>
        <p:nvPicPr>
          <p:cNvPr id="8" name="Picture 7" descr="dashboard_p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83080"/>
            <a:ext cx="370332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325880"/>
            <a:ext cx="3703320" cy="384048"/>
          </a:xfrm>
          <a:prstGeom prst="roundRect">
            <a:avLst/>
          </a:prstGeom>
          <a:solidFill>
            <a:srgbClr val="F0F5FA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B365D"/>
                </a:solidFill>
                <a:latin typeface="Aptos"/>
              </a:defRPr>
            </a:pPr>
            <a:r>
              <a:rPr>
                <a:latin typeface="Aptos"/>
              </a:rPr>
              <a:t>Logistics and Delivery</a:t>
            </a:r>
          </a:p>
        </p:txBody>
      </p:sp>
      <p:pic>
        <p:nvPicPr>
          <p:cNvPr id="10" name="Picture 9" descr="dashboard_pa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783080"/>
            <a:ext cx="3703320" cy="2880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4983480"/>
            <a:ext cx="10789920" cy="822960"/>
          </a:xfrm>
          <a:prstGeom prst="roundRect">
            <a:avLst/>
          </a:prstGeom>
          <a:solidFill>
            <a:srgbClr val="F6F8FB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A6470"/>
                </a:solidFill>
                <a:latin typeface="Aptos"/>
              </a:defRPr>
            </a:pPr>
            <a:r>
              <a:rPr>
                <a:latin typeface="Aptos"/>
              </a:rPr>
              <a:t>Examples shown in the report: total orders and sales, procurement value, inventory units/capacity, delivery status, shipping modes, freight and insurance costs. Verify KPI definitions and relationships before presenting figures as final business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510528"/>
            <a:ext cx="105156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>
              <a:defRPr sz="8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ESCDP | Sprint 0–3  • 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2700" b="1">
                <a:solidFill>
                  <a:srgbClr val="1B365D"/>
                </a:solidFill>
                <a:latin typeface="Aptos Display"/>
              </a:defRPr>
            </a:pPr>
            <a:r>
              <a:rPr>
                <a:latin typeface="Aptos"/>
              </a:rPr>
              <a:t>Sprint 3 — Validation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11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What was implemented and how it can be demonstrated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51560" cy="50292"/>
          </a:xfrm>
          <a:prstGeom prst="rect">
            <a:avLst/>
          </a:prstGeom>
          <a:solidFill>
            <a:srgbClr val="1E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" y="1216152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 dirty="0">
                <a:latin typeface="Aptos"/>
              </a:rPr>
              <a:t>Event table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 dirty="0" err="1">
                <a:latin typeface="Aptos"/>
              </a:rPr>
              <a:t>staging.realtime_events</a:t>
            </a:r>
            <a:r>
              <a:rPr dirty="0">
                <a:latin typeface="Aptos"/>
              </a:rPr>
              <a:t> stores </a:t>
            </a:r>
            <a:r>
              <a:rPr dirty="0" err="1">
                <a:latin typeface="Aptos"/>
              </a:rPr>
              <a:t>event_id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source_dataset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source_file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source_row_number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ingestion_time</a:t>
            </a:r>
            <a:r>
              <a:rPr dirty="0">
                <a:latin typeface="Aptos"/>
              </a:rPr>
              <a:t>, and JSONB payload.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Duplicate handling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A unique constraint on source_file + source_row_number and ON CONFLICT DO NOTHING prevents the same source row being inserted repeatedly during replay.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320" y="3447288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Verification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Use SQL to inspect the latest events, count records by source dataset, and check ingestion timestamps while the script is running.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60" y="4590288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Observed run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At one checkpoint, the table contained 680 records and the validation-error table showed zero logged validation errors. These are checkpoint observations, not guaranteed totals for every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41848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 dirty="0">
                <a:latin typeface="Aptos"/>
              </a:rPr>
              <a:t>Current limitation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 dirty="0">
                <a:latin typeface="Aptos"/>
              </a:rPr>
              <a:t>This is simulated streaming from files, not Kafka or live ERP/WMS events. The star-schema DDL is defined; final fact loading and business-key reconciliation require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510528"/>
            <a:ext cx="105156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>
              <a:defRPr sz="8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ESCDP | Sprint 0–3  • 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2700" b="1">
                <a:solidFill>
                  <a:srgbClr val="1B365D"/>
                </a:solidFill>
                <a:latin typeface="Aptos Display"/>
              </a:defRPr>
            </a:pPr>
            <a:r>
              <a:rPr>
                <a:latin typeface="Aptos"/>
              </a:rPr>
              <a:t>ESCDP — Sprint 0 to Sprint 3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defRPr sz="11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Project progress across initiation, ingestion, quality, warehouse design, and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51560" cy="50292"/>
          </a:xfrm>
          <a:prstGeom prst="rect">
            <a:avLst/>
          </a:prstGeom>
          <a:solidFill>
            <a:srgbClr val="1E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5320" y="1257299"/>
            <a:ext cx="10881360" cy="8686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 dirty="0">
                <a:latin typeface="Aptos"/>
              </a:rPr>
              <a:t>Sprint 0 — Initiation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 dirty="0">
                <a:latin typeface="Aptos"/>
              </a:rPr>
              <a:t>Business context, objectives, scope, high-level architecture, and planning artifacts.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89986"/>
            <a:ext cx="10881360" cy="86868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>
                <a:latin typeface="Aptos"/>
              </a:rPr>
              <a:t>Sprint 1 — Data discovery &amp; ingestion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>
                <a:latin typeface="Aptos"/>
              </a:rPr>
              <a:t>Ten heterogeneous source datasets, Pentaho pipeline evidence, and PostgreSQL staging preparation.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3177540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 dirty="0">
                <a:latin typeface="Aptos"/>
              </a:rPr>
              <a:t>Sprint 2 — Data quality &amp; warehouse design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 dirty="0">
                <a:latin typeface="Aptos"/>
              </a:rPr>
              <a:t>Python profiling/cleaning reports, data quality checks, and star-schema SQL with eight dimensions and six 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87304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 dirty="0">
                <a:latin typeface="Aptos"/>
              </a:rPr>
              <a:t>Sprint 3 — Ingestion demo &amp; analytics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 dirty="0">
                <a:latin typeface="Aptos"/>
              </a:rPr>
              <a:t>Simulated incremental ingestion into PostgreSQL, duplicate handling, basic validation/error reporting, SQL verification, and Power BI dashboard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320" y="5458968"/>
            <a:ext cx="1088136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1700" b="1">
                <a:solidFill>
                  <a:srgbClr val="2B70B2"/>
                </a:solidFill>
                <a:latin typeface="Aptos"/>
              </a:defRPr>
            </a:pPr>
            <a:r>
              <a:rPr dirty="0">
                <a:latin typeface="Aptos"/>
              </a:rPr>
              <a:t>Next validation priorities</a:t>
            </a:r>
          </a:p>
          <a:p>
            <a:pPr>
              <a:spcBef>
                <a:spcPts val="300"/>
              </a:spcBef>
              <a:defRPr sz="1300">
                <a:solidFill>
                  <a:srgbClr val="242D38"/>
                </a:solidFill>
                <a:latin typeface="Aptos"/>
              </a:defRPr>
            </a:pPr>
            <a:r>
              <a:rPr dirty="0">
                <a:latin typeface="Aptos"/>
              </a:rPr>
              <a:t>Confirm fact-table grain, validate source-key mappings, reconcile dashboard totals to source records, and document any remaining data-quality exceptions.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510528"/>
            <a:ext cx="1051560" cy="182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 algn="r">
              <a:defRPr sz="800">
                <a:solidFill>
                  <a:srgbClr val="5A6470"/>
                </a:solidFill>
              </a:defRPr>
            </a:pPr>
            <a:r>
              <a:rPr>
                <a:latin typeface="Aptos"/>
              </a:rPr>
              <a:t>ESCDP | Sprint 0–3  • 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2354</Words>
  <Application>Microsoft Office PowerPoint</Application>
  <PresentationFormat>Widescreen</PresentationFormat>
  <Paragraphs>304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Aswin C</cp:lastModifiedBy>
  <cp:revision>2</cp:revision>
  <dcterms:created xsi:type="dcterms:W3CDTF">2013-01-27T09:14:16Z</dcterms:created>
  <dcterms:modified xsi:type="dcterms:W3CDTF">2026-10-23T04:09:08Z</dcterms:modified>
  <cp:category/>
</cp:coreProperties>
</file>